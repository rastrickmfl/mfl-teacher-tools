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notesMasterIdLst>
    <p:notesMasterId r:id="rId18"/>
  </p:notesMasterIdLst>
  <p:handoutMasterIdLst>
    <p:handoutMasterId r:id="rId19"/>
  </p:handoutMasterIdLst>
  <p:sldIdLst>
    <p:sldId id="748" r:id="rId2"/>
    <p:sldId id="781" r:id="rId3"/>
    <p:sldId id="776" r:id="rId4"/>
    <p:sldId id="791" r:id="rId5"/>
    <p:sldId id="792" r:id="rId6"/>
    <p:sldId id="735" r:id="rId7"/>
    <p:sldId id="755" r:id="rId8"/>
    <p:sldId id="777" r:id="rId9"/>
    <p:sldId id="782" r:id="rId10"/>
    <p:sldId id="788" r:id="rId11"/>
    <p:sldId id="783" r:id="rId12"/>
    <p:sldId id="789" r:id="rId13"/>
    <p:sldId id="784" r:id="rId14"/>
    <p:sldId id="786" r:id="rId15"/>
    <p:sldId id="787" r:id="rId16"/>
    <p:sldId id="790" r:id="rId17"/>
  </p:sldIdLst>
  <p:sldSz cx="12192000" cy="6858000"/>
  <p:notesSz cx="6797675" cy="99266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00"/>
    <a:srgbClr val="FF0000"/>
    <a:srgbClr val="FFCCCC"/>
    <a:srgbClr val="9CF8FA"/>
    <a:srgbClr val="0000FF"/>
    <a:srgbClr val="FFFFCC"/>
    <a:srgbClr val="FF0066"/>
    <a:srgbClr val="9900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68" autoAdjust="0"/>
    <p:restoredTop sz="85922" autoAdjust="0"/>
  </p:normalViewPr>
  <p:slideViewPr>
    <p:cSldViewPr>
      <p:cViewPr varScale="1">
        <p:scale>
          <a:sx n="95" d="100"/>
          <a:sy n="95" d="100"/>
        </p:scale>
        <p:origin x="89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6639D19-11C6-4568-9518-6A35FDEBAB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67C26FA-C760-4F3A-8C11-F456F3B5F1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E97BFD5B-E556-4D16-852F-BD3EA1F19E2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BE68986-90C1-4FE7-BD62-581C524B848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34D2E3C-9E8C-4881-BC85-30D5440634F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cm"/>
          <inkml:channel name="T" type="integer" max="2.14748E9" units="dev"/>
        </inkml:traceFormat>
        <inkml:channelProperties>
          <inkml:channelProperty channel="X" name="resolution" value="199.07048" units="1/cm"/>
          <inkml:channelProperty channel="Y" name="resolution" value="354.62122" units="1/cm"/>
          <inkml:channelProperty channel="F" name="resolution" value="44.31818" units="1/cm"/>
          <inkml:channelProperty channel="T" name="resolution" value="1" units="1/dev"/>
        </inkml:channelProperties>
      </inkml:inkSource>
      <inkml:timestamp xml:id="ts0" timeString="2026-09-14T10:41:22.9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2429 6910 2048 0,'11'-21'0'0,"2"-13"0"0,4-11 0 0,2-9 0 0,-3-1 0 0,1 2 0 0,-7-5 0 16,-7 4 0-16,-19 8 0 15,-25 12 0-15,-22 16 0 16,-29 18 0 0,-24 21 0-16,-9 22 0 15,-3 22 0-15,-3 20 0 16,-2 16 0 0,3 25 0-16,10 10 0 15,4-4 0-15,18 15 0 16,18 3 0-1,28 9 0-15,16-4 0 16,38 1 0 0,17-6 0-16,23-9 0 15,18-10 0-15,17-18 0 16,21-24 0 0,8-23 0-16,21-28 0 15,20-31 0-15,25-28 0 16,7-26 0-1,2-28 0-15,3-24 0 16,-19-17 0-16,-21-17 0 16,-28-11 0-1,-36-10 0-15,-32-6 0 16,-37-5 0 0,-35 2 0-16,-24 8 0 15,-33 10 0-15,-25 17 0 16,-22 28 0-1,-18 13 0-15</inkml:trace>
  <inkml:trace contextRef="#ctx0" brushRef="#br0" timeOffset="3336.64">2129 14898 2048 0,'-28'-9'0'0,"-37"5"0"0,-36 14 0 0,-23 24 0 0,-20 41 0 0,-10 33 0 0,-3 38 0 15,16 19 0-15,21 15 0 16,23 14 0-16,31 3 0 15,31-7 0 1,29-5 0-16,35-18 0 16,27-12 0-1,33-24 0-15,37-22 0 16,25-22 0-16,22-28 0 16,15-33 0-1,-2-32 0-15,-8-28 0 16,-3-32 0-16,-19-27 0 15,-19-30 0 1,-32-27 0-16,-32-22 0 16,-31-14 0-16,-38-18 0 15,-34-3 0 1,-33 8 0-16,-29 11 0 16,-24 11 0-1,-25 15 0-15</inkml:trace>
  <inkml:trace contextRef="#ctx0" brushRef="#br0" timeOffset="6824.25">12543 3717 2048 0,'-44'13'0'0,"-91"67"0"0,-27 28 0 0,-22 39 0 0,34 20 0 0,24 13 0 15,26 18 0-15,25 9 0 16,36-5 0-1,30-10 0-15,34-17 0 16,30-31 0 0,25-21 0-16,18-35 0 15,16-31 0-15,17-27 0 16,13-27 0 0,28-25 0-16,17-31 0 15,10-15 0-15,9-31 0 16,-6-12 0-1,-24-35 0-15,-30-4 0 16,-34-9 0-16,-49-4 0 16,-40 2 0-1,-59-2 0-15,-57 9 0 16,-55 13 0 0,-46 26 0-16,-31 20 0 15</inkml:trace>
  <inkml:trace contextRef="#ctx0" brushRef="#br0" timeOffset="11979.48">13695 15151 2048 0,'6'-28'0'0,"-4"-28"0"0,-5-18 0 0,-12-3 0 0,-17 4 0 0,-19 9 0 0,-25 3 0 0,-15 16 0 16,-16 23 0-1,-9 30 0-15,-16 28 0 16,-8 33 0 0,-2 23 0-16,2 34 0 15,12 18 0 1,-4 20 0-16,8 19 0 15,31-1 0-15,35-6 0 16,40-7 0-16,39-1 0 16,39-6 0-1,37-8 0-15,32-15 0 16,27-19 0 0,19-27 0-16,14-27 0 15,2-30 0-15,0-31 0 16,-13-30 0-1,-12-29 0-15,-22-29 0 16,-26-33 0-16,-14-37 0 16,-24-27 0-1,-20-18 0-15,-31-13 0 16,-28 2 0 0,-32 2 0-16,-22 18 0 15,-26 16 0-15,-28 27 0 16,-32 23 0-1</inkml:trace>
  <inkml:trace contextRef="#ctx0" brushRef="#br0" timeOffset="15282.33">24126 3662 2048 0,'-65'-10'0'0,"-43"-8"0"0,-35 14 0 0,-16 26 0 0,-3 28 0 0,-6 35 0 0,5 29 0 16,-7 35 0-16,15 35 0 16,23 30 0-1,19 24 0-15,12 4 0 16,29 23 0-16,18-8 0 16,47-19 0-1,49-32 0-15,37-33 0 16,47-36 0-16,25-30 0 15,24-34 0 1,24-36 0-16,18-33 0 16,25-32 0-16,0-18 0 15,-3-28 0 1,-23-14 0-16,-22-23 0 16,-30-24 0-1,-43-19 0-15,-51-22 0 16,-60-15 0-16,-65-12 0 15,-57-9 0 1,-56 11 0-16,-35 14 0 16,-29 19 0-16</inkml:trace>
  <inkml:trace contextRef="#ctx0" brushRef="#br0" timeOffset="18935.89">24979 12116 2048 0,'5'-23'0'0,"-11"-12"0"0,-17-2 0 0,-19-2 0 0,-26 12 0 0,-17 8 0 0,-23 19 0 16,-18 17 0-16,-23 12 0 15,-22 27 0-15,-5 13 0 16,-5 22 0-1,1 16 0-15,19 10 0 16,20 17 0-16,23 13 0 16,23 15 0-1,22 6 0-15,20-5 0 16,18-10 0 0,23 0 0-16,24-3 0 15,30-3 0-15,24-16 0 16,29-17 0-1,20-24 0-15,21-17 0 16,24-14 0 0,18-21 0-16,-1-24 0 15,-3-24 0-15,-24-32 0 16,-17-34 0 0,-28-37 0-16,-26-30 0 15,-30-19 0-15,-22-17 0 16,-27-14 0-1,-19 2 0-15,-20 7 0 16,-19-4 0-16,-16 19 0 16,-13 17 0-1,-20 21 0-15,-11 18 0 16</inkml:trace>
  <inkml:trace contextRef="#ctx0" brushRef="#br0" timeOffset="22539.59">25060 15137 2048 0,'-1'-25'0'0,"-1"-15"0"0,-15-7 0 0,-21-3 0 0,-17 2 0 0,-30 3 0 15,-18 14 0 1,-24 7 0-16,-17 20 0 16,-21 18 0-16,-16 17 0 15,-15 21 0 1,-4 25 0-16,-6 19 0 15,17 22 0 1,16 19 0-16,31 19 0 16,39 9 0-16,47 19 0 15,47 17 0 1,38 4 0-16,35-5 0 16,31-8 0-16,33-6 0 15,26-17 0 1,23-23 0-16,13-33 0 15,14-39 0-15,-1-38 0 16,0-43 0 0,-9-38 0-16,-12-41 0 15,-23-27 0 1,-18-49 0-16,-24-23 0 16,-28-14 0-16,-18-16 0 15,-28-3 0 1,-28-16 0-16,-33-2 0 15,-32 2 0 1,-39 3 0-16,-34 6 0 16,-41 8 0-16,-31 8 0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cm"/>
          <inkml:channel name="T" type="integer" max="2.14748E9" units="dev"/>
        </inkml:traceFormat>
        <inkml:channelProperties>
          <inkml:channelProperty channel="X" name="resolution" value="199.07048" units="1/cm"/>
          <inkml:channelProperty channel="Y" name="resolution" value="354.62122" units="1/cm"/>
          <inkml:channelProperty channel="F" name="resolution" value="44.31818" units="1/cm"/>
          <inkml:channelProperty channel="T" name="resolution" value="1" units="1/dev"/>
        </inkml:channelProperties>
      </inkml:inkSource>
      <inkml:timestamp xml:id="ts0" timeString="2026-09-14T10:39:57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19401 3506 2048 0,'-23'-5'0'0,"-19"6"0"0,-9 9 0 0,-5 10 0 0,3 11 0 0,13 13 0 0,12 21 0 16,24 9 0 0,27 10 0-16,22 3 0 15,20-7 0-15,2-3 0 16,-9-6 0-16,-10 2 0 15,-16-3 0 1,-20-9 0-16,-15-5 0 16,-24-8 0-16,-17-12 0 15,-20-16 0 1,-25-13 0-16,-6-7 0 16,4-7 0-1,20-11 0-15,23-18 0 16,32-12 0-16,32-8 0 15,28-9 0 1,14-3 0-16</inkml:trace>
  <inkml:trace contextRef="#ctx0" brushRef="#br0" timeOffset="283.92">19977 3867 2048 0,'-3'24'0'0,"5"28"0"16,-8 23 0-1,-1 10 0-15,-3-5 0 16,-8-13 0-16,-2-11 0 15,20-56 0 1,0 0 0-16,0 0 0 16,-16 20 0-16,2-72 0 15</inkml:trace>
  <inkml:trace contextRef="#ctx0" brushRef="#br0" timeOffset="450.47">19771 3190 2048 0,'0'0'0'16,"-2"15"0"-16,-4 25 0 16,6-40 0-16,-10 49 0 15</inkml:trace>
  <inkml:trace contextRef="#ctx0" brushRef="#br0" timeOffset="984.42">20189 4397 2048 0,'0'0'0'16,"-6"23"0"-16,6-23 0 15,0 0 0 1,0 0 0-16,-4 22 0 16,-4-33 0-16,6-33 0 15,7-26 0 1,7-23 0-16,5-2 0 15,7-8 0-15,19 6 0 16,3 7 0 0,0 16 0-16,0 16 0 15,2 17 0 1,6 18 0-16,-2 18 0 16,-5 23 0-16,-2 22 0 15,-8 19 0 1,-8 13 0-16,-12 7 0 15,-4 2 0 1,3 5 0-16,6-1 0 16,3-7 0-16,-1-10 0 15,-6-9 0 1,-18-59 0-16,0 0 0 16,0 0 0-16,12 43 0 15,0-64 0 1,0-41 0-16,7-37 0 15</inkml:trace>
  <inkml:trace contextRef="#ctx0" brushRef="#br0" timeOffset="1518.28">21162 3134 2048 0,'9'22'0'0,"10"30"0"0,1 32 0 0,-15 24 0 0,-17 14 0 0,-12 8 0 16,-3-2 0-16,4-18 0 16,9-6 0-16,2-14 0 15,12-12 0 1,11-16 0-16,-11-62 0 15,9 54 0 1,-9-54 0-16,0 0 0 16,0 0 0-16,10 22 0 15,17-72 0 1,-4-32 0-16,1-14 0 16,-1 6 0-16,7 18 0 15,11 14 0 1,5 12 0-16,4 9 0 15,0 12 0-15,-50 25 0 16,0 0 0 0,37-5 0-16,-31 35 0 15,-25 14 0 1,-23 8 0-16,-11 0 0 16,8 4 0-16,2-5 0 15,13 2 0 1,23-2 0-16,19-1 0 15,27 6 0 1,40 3 0-16,23-2 0 16,23-16 0-16</inkml:trace>
  <inkml:trace contextRef="#ctx0" brushRef="#br0" timeOffset="8058.42">19319 3445 2048 0,'24'12'0'0,"36"16"0"0,31 20 0 0,20 11 0 0,18 17 0 0,12 14 0 0,9 8 0 16,4 6 0-16,9 0 0 15,-2-6 0-15,-7-7 0 16,-17-5 0 0,-15-11 0-16,-14-8 0 15,-18-16 0-15,-20-5 0 16,-70-46 0 0</inkml:trace>
  <inkml:trace contextRef="#ctx0" brushRef="#br0" timeOffset="8442.54">18947 4902 2048 0,'24'-31'0'0,"36"-33"0"16,41-30 0 0,46-29 0-16,29-21 0 15,29-17 0-15,42-10 0 16,16-7 0-1,11 0 0-15,9 5 0 16,0 9 0 0,-12 18 0-16,-22 20 0 15,-36 25 0-15,-38 22 0 16,-48 27 0 0,-54 9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A44AF74-C908-46CF-80D2-DEACE68324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3836299-4C59-4E99-8480-F247F3B85BF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A0B52652-AE02-497F-ADB1-1761110A55A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0D30D07-9C72-4A41-884D-84D3BCF47F9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CFD6164A-1760-4730-B261-21CF87045D0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5005BAC3-574A-459A-8A3B-95058B4D08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471FA0B-8C33-4837-A9D9-033CA37B81B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1FA0B-8C33-4837-A9D9-033CA37B81B4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69094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DE92-A650-FA8E-BBDB-F6B8FA37C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A4AB0-BDA3-2980-074B-EE862766B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E206B-B05B-CEB4-C03A-F07D9D167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62631-A740-BA57-5521-0D87277F9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1FA0B-8C33-4837-A9D9-033CA37B81B4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3872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71FA0B-8C33-4837-A9D9-033CA37B81B4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34891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3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399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79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603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128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91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07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008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137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092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403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609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14EF85C-D2AC-4A9E-9035-556BE8FDD130}" type="datetimeFigureOut">
              <a:rPr lang="en-GB" smtClean="0"/>
              <a:pPr>
                <a:defRPr/>
              </a:pPr>
              <a:t>25/10/2026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647FD82-0BB6-4643-B471-E35A49453597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69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customXml" Target="../ink/ink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3219598-1C8A-EB8D-5A99-EC111774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48" y="277385"/>
            <a:ext cx="11859470" cy="2503543"/>
          </a:xfrm>
        </p:spPr>
        <p:txBody>
          <a:bodyPr anchor="t">
            <a:noAutofit/>
          </a:bodyPr>
          <a:lstStyle/>
          <a:p>
            <a:r>
              <a:rPr lang="fr-FR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fr-FR" sz="36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fr-F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This or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– Tick the correct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spelling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84F5BB-5E63-3554-02B2-C67B91F85CA1}"/>
              </a:ext>
            </a:extLst>
          </p:cNvPr>
          <p:cNvSpPr txBox="1"/>
          <p:nvPr/>
        </p:nvSpPr>
        <p:spPr>
          <a:xfrm>
            <a:off x="8832304" y="1529156"/>
            <a:ext cx="3002388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u="sng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EfL</a:t>
            </a:r>
            <a:r>
              <a:rPr lang="en-GB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How many words can you remember how to spell from our lessons so far this term? Write a list under the IN&amp;ON task.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FD7194-4209-6552-94CD-04BB9FC59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576332"/>
              </p:ext>
            </p:extLst>
          </p:nvPr>
        </p:nvGraphicFramePr>
        <p:xfrm>
          <a:off x="407270" y="1196752"/>
          <a:ext cx="8188408" cy="509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352">
                  <a:extLst>
                    <a:ext uri="{9D8B030D-6E8A-4147-A177-3AD203B41FA5}">
                      <a16:colId xmlns:a16="http://schemas.microsoft.com/office/drawing/2014/main" val="3081924488"/>
                    </a:ext>
                  </a:extLst>
                </a:gridCol>
                <a:gridCol w="3845028">
                  <a:extLst>
                    <a:ext uri="{9D8B030D-6E8A-4147-A177-3AD203B41FA5}">
                      <a16:colId xmlns:a16="http://schemas.microsoft.com/office/drawing/2014/main" val="3420701231"/>
                    </a:ext>
                  </a:extLst>
                </a:gridCol>
                <a:gridCol w="3845028">
                  <a:extLst>
                    <a:ext uri="{9D8B030D-6E8A-4147-A177-3AD203B41FA5}">
                      <a16:colId xmlns:a16="http://schemas.microsoft.com/office/drawing/2014/main" val="2883857662"/>
                    </a:ext>
                  </a:extLst>
                </a:gridCol>
              </a:tblGrid>
              <a:tr h="464135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554251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 </a:t>
                      </a:r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m’appelle</a:t>
                      </a:r>
                      <a:endParaRPr lang="en-GB" sz="3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 </a:t>
                      </a:r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m’apple</a:t>
                      </a:r>
                      <a:endParaRPr lang="en-GB" sz="3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211198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 </a:t>
                      </a:r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revwah</a:t>
                      </a:r>
                      <a:endParaRPr lang="en-GB" sz="3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 revoir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187864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Ça</a:t>
                      </a:r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</a:t>
                      </a:r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 </a:t>
                      </a:r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</a:t>
                      </a:r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53204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Bonjoor</a:t>
                      </a:r>
                      <a:endParaRPr lang="en-GB" sz="32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Bonjour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12422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Ay </a:t>
                      </a:r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toi</a:t>
                      </a:r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</a:t>
                      </a:r>
                      <a:r>
                        <a:rPr lang="en-GB" sz="32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toi</a:t>
                      </a:r>
                      <a:r>
                        <a:rPr lang="en-GB" sz="3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496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AB90AFD-9CFD-99DA-7193-27042E8328EB}"/>
              </a:ext>
            </a:extLst>
          </p:cNvPr>
          <p:cNvSpPr/>
          <p:nvPr/>
        </p:nvSpPr>
        <p:spPr>
          <a:xfrm>
            <a:off x="3985673" y="1864459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8A5090-95D8-D991-62A6-91118EDAC0FC}"/>
              </a:ext>
            </a:extLst>
          </p:cNvPr>
          <p:cNvSpPr/>
          <p:nvPr/>
        </p:nvSpPr>
        <p:spPr>
          <a:xfrm>
            <a:off x="3985673" y="2767513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1762D3-639B-6DD3-981D-866DC17BE9B6}"/>
              </a:ext>
            </a:extLst>
          </p:cNvPr>
          <p:cNvSpPr/>
          <p:nvPr/>
        </p:nvSpPr>
        <p:spPr>
          <a:xfrm>
            <a:off x="3985673" y="3700295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50710E-D2B8-A16A-9FA6-1919E8121A2F}"/>
              </a:ext>
            </a:extLst>
          </p:cNvPr>
          <p:cNvSpPr/>
          <p:nvPr/>
        </p:nvSpPr>
        <p:spPr>
          <a:xfrm>
            <a:off x="3985673" y="4639988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A16EE3-0425-CA8D-5D53-20AFFEAF7B6E}"/>
              </a:ext>
            </a:extLst>
          </p:cNvPr>
          <p:cNvSpPr/>
          <p:nvPr/>
        </p:nvSpPr>
        <p:spPr>
          <a:xfrm>
            <a:off x="3985673" y="5543042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514880-2A5B-8669-0BE9-76CD7EFD6FBF}"/>
              </a:ext>
            </a:extLst>
          </p:cNvPr>
          <p:cNvSpPr/>
          <p:nvPr/>
        </p:nvSpPr>
        <p:spPr>
          <a:xfrm>
            <a:off x="7839589" y="1864459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832D4E-7E4B-FB04-2562-15B163BFD9BC}"/>
              </a:ext>
            </a:extLst>
          </p:cNvPr>
          <p:cNvSpPr/>
          <p:nvPr/>
        </p:nvSpPr>
        <p:spPr>
          <a:xfrm>
            <a:off x="7839589" y="2767513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082140-A67D-106B-8FD7-F3CFA5921054}"/>
              </a:ext>
            </a:extLst>
          </p:cNvPr>
          <p:cNvSpPr/>
          <p:nvPr/>
        </p:nvSpPr>
        <p:spPr>
          <a:xfrm>
            <a:off x="7839589" y="3700295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DAFA97-F07C-EF34-CDD6-BF9305082E3D}"/>
              </a:ext>
            </a:extLst>
          </p:cNvPr>
          <p:cNvSpPr/>
          <p:nvPr/>
        </p:nvSpPr>
        <p:spPr>
          <a:xfrm>
            <a:off x="7839589" y="4639988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E88AB1-245A-E7C6-ABB0-CF916D0F223E}"/>
              </a:ext>
            </a:extLst>
          </p:cNvPr>
          <p:cNvSpPr/>
          <p:nvPr/>
        </p:nvSpPr>
        <p:spPr>
          <a:xfrm>
            <a:off x="7839589" y="5543042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55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CDE0-0B82-B992-BFAB-8EDAE2DA8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067D5E-AD01-1CE1-E84E-A48C8B8E3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848" y="277385"/>
            <a:ext cx="11859470" cy="2503543"/>
          </a:xfrm>
        </p:spPr>
        <p:txBody>
          <a:bodyPr anchor="t">
            <a:noAutofit/>
          </a:bodyPr>
          <a:lstStyle/>
          <a:p>
            <a:r>
              <a:rPr lang="fr-FR" sz="36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fr-FR" sz="36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fr-F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This or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 – Tick the correct </a:t>
            </a:r>
            <a:r>
              <a:rPr lang="fr-FR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spelling</a:t>
            </a: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743E67-572C-5848-BA1E-9B80685C1C9A}"/>
              </a:ext>
            </a:extLst>
          </p:cNvPr>
          <p:cNvSpPr txBox="1"/>
          <p:nvPr/>
        </p:nvSpPr>
        <p:spPr>
          <a:xfrm>
            <a:off x="8832304" y="1529156"/>
            <a:ext cx="3002388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u="sng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EfL</a:t>
            </a:r>
            <a:r>
              <a:rPr lang="en-GB" b="1" u="sng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How many words can you remember how to spell from our lessons so far this term? Write a list under the IN&amp;ON task.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D81648-D69E-7F01-66BA-1813C18A1331}"/>
              </a:ext>
            </a:extLst>
          </p:cNvPr>
          <p:cNvGraphicFramePr>
            <a:graphicFrameLocks noGrp="1"/>
          </p:cNvGraphicFramePr>
          <p:nvPr/>
        </p:nvGraphicFramePr>
        <p:xfrm>
          <a:off x="211848" y="1020649"/>
          <a:ext cx="8188408" cy="509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8352">
                  <a:extLst>
                    <a:ext uri="{9D8B030D-6E8A-4147-A177-3AD203B41FA5}">
                      <a16:colId xmlns:a16="http://schemas.microsoft.com/office/drawing/2014/main" val="3081924488"/>
                    </a:ext>
                  </a:extLst>
                </a:gridCol>
                <a:gridCol w="3845028">
                  <a:extLst>
                    <a:ext uri="{9D8B030D-6E8A-4147-A177-3AD203B41FA5}">
                      <a16:colId xmlns:a16="http://schemas.microsoft.com/office/drawing/2014/main" val="3420701231"/>
                    </a:ext>
                  </a:extLst>
                </a:gridCol>
                <a:gridCol w="3845028">
                  <a:extLst>
                    <a:ext uri="{9D8B030D-6E8A-4147-A177-3AD203B41FA5}">
                      <a16:colId xmlns:a16="http://schemas.microsoft.com/office/drawing/2014/main" val="2883857662"/>
                    </a:ext>
                  </a:extLst>
                </a:gridCol>
              </a:tblGrid>
              <a:tr h="464135">
                <a:tc>
                  <a:txBody>
                    <a:bodyPr/>
                    <a:lstStyle/>
                    <a:p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Option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554251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 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m’appelle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 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m’apple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211198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 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revwah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 revoir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4187864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Ça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 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53204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Bonjoor</a:t>
                      </a:r>
                      <a:endParaRPr lang="en-GB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Bonjour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112422"/>
                  </a:ext>
                </a:extLst>
              </a:tr>
              <a:tr h="926661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Ay 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toi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</a:t>
                      </a:r>
                      <a:r>
                        <a:rPr lang="en-GB" sz="2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toi</a:t>
                      </a:r>
                      <a:r>
                        <a:rPr lang="en-GB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81496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30A152B-F6FD-2A63-96E1-6A6392ED18DF}"/>
              </a:ext>
            </a:extLst>
          </p:cNvPr>
          <p:cNvSpPr/>
          <p:nvPr/>
        </p:nvSpPr>
        <p:spPr>
          <a:xfrm>
            <a:off x="3790251" y="1688356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16846F-3E13-3C83-EC31-FC0B84327C1B}"/>
              </a:ext>
            </a:extLst>
          </p:cNvPr>
          <p:cNvSpPr/>
          <p:nvPr/>
        </p:nvSpPr>
        <p:spPr>
          <a:xfrm>
            <a:off x="3790251" y="2591410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9089A2-1798-90A4-E942-D0424C496CF1}"/>
              </a:ext>
            </a:extLst>
          </p:cNvPr>
          <p:cNvSpPr/>
          <p:nvPr/>
        </p:nvSpPr>
        <p:spPr>
          <a:xfrm>
            <a:off x="3790251" y="3524192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1AF4D3-1DF2-9D76-727A-F73A9324FE11}"/>
              </a:ext>
            </a:extLst>
          </p:cNvPr>
          <p:cNvSpPr/>
          <p:nvPr/>
        </p:nvSpPr>
        <p:spPr>
          <a:xfrm>
            <a:off x="3790251" y="4463885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AE4750-5D0D-400C-7BE1-0F26D5CF2EC2}"/>
              </a:ext>
            </a:extLst>
          </p:cNvPr>
          <p:cNvSpPr/>
          <p:nvPr/>
        </p:nvSpPr>
        <p:spPr>
          <a:xfrm>
            <a:off x="3790251" y="5366939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F630ED-8576-8607-1FCD-FC739C5BE73B}"/>
              </a:ext>
            </a:extLst>
          </p:cNvPr>
          <p:cNvSpPr/>
          <p:nvPr/>
        </p:nvSpPr>
        <p:spPr>
          <a:xfrm>
            <a:off x="7644167" y="1688356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7C75D9-F95B-D7B4-1836-34F8BED98B9E}"/>
              </a:ext>
            </a:extLst>
          </p:cNvPr>
          <p:cNvSpPr/>
          <p:nvPr/>
        </p:nvSpPr>
        <p:spPr>
          <a:xfrm>
            <a:off x="7644167" y="2591410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5A24FB-5420-EA50-0EF9-5DC8DC745335}"/>
              </a:ext>
            </a:extLst>
          </p:cNvPr>
          <p:cNvSpPr/>
          <p:nvPr/>
        </p:nvSpPr>
        <p:spPr>
          <a:xfrm>
            <a:off x="7644167" y="3524192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10A80D-3DE7-6E2E-8518-C47393287A99}"/>
              </a:ext>
            </a:extLst>
          </p:cNvPr>
          <p:cNvSpPr/>
          <p:nvPr/>
        </p:nvSpPr>
        <p:spPr>
          <a:xfrm>
            <a:off x="7644167" y="4463885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EC1364-9EEE-B581-61E1-AC84F5FA0573}"/>
              </a:ext>
            </a:extLst>
          </p:cNvPr>
          <p:cNvSpPr/>
          <p:nvPr/>
        </p:nvSpPr>
        <p:spPr>
          <a:xfrm>
            <a:off x="7644167" y="5366939"/>
            <a:ext cx="576064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 descr="Checkmark with solid fill">
            <a:extLst>
              <a:ext uri="{FF2B5EF4-FFF2-40B4-BE49-F238E27FC236}">
                <a16:creationId xmlns:a16="http://schemas.microsoft.com/office/drawing/2014/main" id="{74B530AD-D3FD-13B5-655A-B03C108C9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5687" y="1819672"/>
            <a:ext cx="385192" cy="385192"/>
          </a:xfrm>
          <a:prstGeom prst="rect">
            <a:avLst/>
          </a:prstGeom>
        </p:spPr>
      </p:pic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45E9F4B5-8823-B5C6-6AD0-26058F8FAF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2122" y="2701878"/>
            <a:ext cx="385192" cy="385192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21799025-49E1-1189-E6C7-1119D78C05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10608" y="3619872"/>
            <a:ext cx="385192" cy="385192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44B5678A-4C8F-37C5-97D3-869E124022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2456" y="4559321"/>
            <a:ext cx="385192" cy="385192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24BD4706-D8BF-1CC6-4D4C-D5DB0A5975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53508" y="5495181"/>
            <a:ext cx="385192" cy="38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009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B6A11C-A43B-3DA5-34EC-461D05D71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"/>
            <a:ext cx="6096528" cy="34292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610CF9-DB2F-F7C0-CD38-A0C333AF0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4" y="3428703"/>
            <a:ext cx="6096528" cy="34292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FEBA3A-A9A5-B874-8443-4845F8500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908" y="0"/>
            <a:ext cx="6096528" cy="34292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801AEE-9A54-8DA5-EA7F-466395EE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472" y="3429000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61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A98C5-EB03-3E23-CDF7-D3921054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Box 6">
            <a:extLst>
              <a:ext uri="{FF2B5EF4-FFF2-40B4-BE49-F238E27FC236}">
                <a16:creationId xmlns:a16="http://schemas.microsoft.com/office/drawing/2014/main" id="{D3D736A4-2925-6374-1C34-067C06E42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4869160"/>
            <a:ext cx="2359563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Can I </a:t>
            </a:r>
            <a:r>
              <a:rPr lang="en-GB" altLang="en-US" sz="2000" b="1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identify</a:t>
            </a:r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key phonics?</a:t>
            </a:r>
            <a:endParaRPr lang="en-GB" altLang="en-US" sz="20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A6E72-4BB3-6123-AD01-7AE5D6B4CF6E}"/>
              </a:ext>
            </a:extLst>
          </p:cNvPr>
          <p:cNvSpPr/>
          <p:nvPr/>
        </p:nvSpPr>
        <p:spPr>
          <a:xfrm>
            <a:off x="330052" y="4245378"/>
            <a:ext cx="2368550" cy="4318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77373-954B-95EF-B071-C3CBAE7D8EFA}"/>
              </a:ext>
            </a:extLst>
          </p:cNvPr>
          <p:cNvSpPr txBox="1">
            <a:spLocks/>
          </p:cNvSpPr>
          <p:nvPr/>
        </p:nvSpPr>
        <p:spPr bwMode="auto">
          <a:xfrm>
            <a:off x="191344" y="1977195"/>
            <a:ext cx="11809312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L’objectif</a:t>
            </a:r>
            <a: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I say numbers 1-15 in French and say how old I am?</a:t>
            </a:r>
            <a:endParaRPr lang="en-GB" altLang="en-US" sz="2400" b="1" dirty="0"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1D785EA-08A5-52ED-30C9-5A737B1D7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335" y="4869160"/>
            <a:ext cx="2928508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apply 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key phonics when speaking?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A2D414-FFCA-A8DF-B799-83E57DB7AA18}"/>
              </a:ext>
            </a:extLst>
          </p:cNvPr>
          <p:cNvGraphicFramePr>
            <a:graphicFrameLocks noGrp="1"/>
          </p:cNvGraphicFramePr>
          <p:nvPr/>
        </p:nvGraphicFramePr>
        <p:xfrm>
          <a:off x="0" y="-9022"/>
          <a:ext cx="12192000" cy="1535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39181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10836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8333810"/>
                    </a:ext>
                  </a:extLst>
                </a:gridCol>
              </a:tblGrid>
              <a:tr h="1535846"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grande idée:</a:t>
                      </a:r>
                      <a:b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400" b="1" u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Theme 1: People and Lifestyle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Lesson 4:</a:t>
                      </a:r>
                    </a:p>
                    <a:p>
                      <a:pPr algn="ctr"/>
                      <a:endParaRPr lang="en-GB" sz="2400" b="1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 </a:t>
                      </a:r>
                      <a:r>
                        <a:rPr lang="en-GB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âge</a:t>
                      </a:r>
                      <a:endParaRPr lang="en-GB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question du jour: </a:t>
                      </a:r>
                    </a:p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I say how old I am in French?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570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028D872-02B3-FCE8-DB17-50609DBEB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255" y="4869160"/>
            <a:ext cx="292850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recognise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15 numbers in French?</a:t>
            </a:r>
          </a:p>
        </p:txBody>
      </p:sp>
    </p:spTree>
    <p:extLst>
      <p:ext uri="{BB962C8B-B14F-4D97-AF65-F5344CB8AC3E}">
        <p14:creationId xmlns:p14="http://schemas.microsoft.com/office/powerpoint/2010/main" val="610692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AA4FEB-5F9E-C6E8-2A0E-ED34F6E09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229144"/>
            <a:ext cx="11377264" cy="63997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B043D4-0D88-D9FB-66D3-59F4EEDA525C}"/>
              </a:ext>
            </a:extLst>
          </p:cNvPr>
          <p:cNvSpPr/>
          <p:nvPr/>
        </p:nvSpPr>
        <p:spPr>
          <a:xfrm>
            <a:off x="4655840" y="2348880"/>
            <a:ext cx="2592288" cy="504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CFB0EC-9712-86D7-3B20-AB32790B8407}"/>
              </a:ext>
            </a:extLst>
          </p:cNvPr>
          <p:cNvSpPr/>
          <p:nvPr/>
        </p:nvSpPr>
        <p:spPr>
          <a:xfrm>
            <a:off x="9624392" y="6057292"/>
            <a:ext cx="1224136" cy="2520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493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D34C2-2D3E-054E-EC25-602EE18AC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314743"/>
            <a:ext cx="4392488" cy="62132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8A3E94-ACEF-E1A4-34D2-489EB0726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314743"/>
            <a:ext cx="4464397" cy="622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80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EF35A-3A66-46EE-FFFF-709B33D03584}"/>
              </a:ext>
            </a:extLst>
          </p:cNvPr>
          <p:cNvSpPr txBox="1"/>
          <p:nvPr/>
        </p:nvSpPr>
        <p:spPr>
          <a:xfrm>
            <a:off x="335361" y="260648"/>
            <a:ext cx="6878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Independent Study - Reminder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33AAF-7372-4AD6-BDCC-CC5ACC55B980}"/>
              </a:ext>
            </a:extLst>
          </p:cNvPr>
          <p:cNvSpPr txBox="1"/>
          <p:nvPr/>
        </p:nvSpPr>
        <p:spPr>
          <a:xfrm>
            <a:off x="335361" y="1124744"/>
            <a:ext cx="676875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You may not yet have access to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ClassCharts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so this first piece of Independent Study is optional!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Research French products, and things that make you think of France (The Eiffel Tower, perhaps?).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Bring in pictures to glue onto the front cover of your exercise book.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If you complete this task, we will award you achievement points for excellent engagement and going above and beyond!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B7263-887C-9FB6-9C0F-B046356C95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125"/>
          <a:stretch>
            <a:fillRect/>
          </a:stretch>
        </p:blipFill>
        <p:spPr>
          <a:xfrm>
            <a:off x="7752184" y="2093898"/>
            <a:ext cx="3493727" cy="2670204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420227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0BDDD-BE53-9ECB-AA0E-1BB07E027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Box 6">
            <a:extLst>
              <a:ext uri="{FF2B5EF4-FFF2-40B4-BE49-F238E27FC236}">
                <a16:creationId xmlns:a16="http://schemas.microsoft.com/office/drawing/2014/main" id="{1DB7BEAA-1BD4-5427-5830-22D4F4B86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4869160"/>
            <a:ext cx="2359563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Can I </a:t>
            </a:r>
            <a:r>
              <a:rPr lang="en-GB" altLang="en-US" sz="2000" b="1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identify</a:t>
            </a:r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key phonics?</a:t>
            </a:r>
            <a:endParaRPr lang="en-GB" altLang="en-US" sz="20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AF1AEF-ED6D-8691-A57C-877E8431CE4D}"/>
              </a:ext>
            </a:extLst>
          </p:cNvPr>
          <p:cNvSpPr/>
          <p:nvPr/>
        </p:nvSpPr>
        <p:spPr>
          <a:xfrm>
            <a:off x="330052" y="4245378"/>
            <a:ext cx="2368550" cy="4318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5D1CE-4109-7625-F734-84AA32BEC2B4}"/>
              </a:ext>
            </a:extLst>
          </p:cNvPr>
          <p:cNvSpPr txBox="1">
            <a:spLocks/>
          </p:cNvSpPr>
          <p:nvPr/>
        </p:nvSpPr>
        <p:spPr bwMode="auto">
          <a:xfrm>
            <a:off x="191344" y="1977195"/>
            <a:ext cx="11809312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L’objectif</a:t>
            </a:r>
            <a: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I say numbers 1-15 in French and say how old I am?</a:t>
            </a:r>
            <a:endParaRPr lang="en-GB" altLang="en-US" sz="2400" b="1" dirty="0"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713483B-15FC-6B18-DC6F-668D40FB2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335" y="4869160"/>
            <a:ext cx="2928508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apply 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key phonics when speaking?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8753B6-F8B4-6D26-5EB0-D4C174671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337762"/>
              </p:ext>
            </p:extLst>
          </p:nvPr>
        </p:nvGraphicFramePr>
        <p:xfrm>
          <a:off x="0" y="-9022"/>
          <a:ext cx="12192000" cy="1535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39181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10836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8333810"/>
                    </a:ext>
                  </a:extLst>
                </a:gridCol>
              </a:tblGrid>
              <a:tr h="1535846"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grande idée:</a:t>
                      </a:r>
                      <a:b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400" b="1" u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Theme 1: People and Lifestyle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Lesson 4:</a:t>
                      </a:r>
                    </a:p>
                    <a:p>
                      <a:pPr algn="ctr"/>
                      <a:endParaRPr lang="en-GB" sz="2400" b="1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 </a:t>
                      </a:r>
                      <a:r>
                        <a:rPr lang="en-GB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âge</a:t>
                      </a:r>
                      <a:endParaRPr lang="en-GB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question du jour: </a:t>
                      </a:r>
                    </a:p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I say how old I am in French?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570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32EDD2-631C-4A0B-5C56-4F13971CE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255" y="4869160"/>
            <a:ext cx="292850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recognise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15 numbers in French?</a:t>
            </a:r>
          </a:p>
        </p:txBody>
      </p:sp>
    </p:spTree>
    <p:extLst>
      <p:ext uri="{BB962C8B-B14F-4D97-AF65-F5344CB8AC3E}">
        <p14:creationId xmlns:p14="http://schemas.microsoft.com/office/powerpoint/2010/main" val="250018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BF96E1-4996-3835-4061-0F2D7BE7A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847920"/>
              </p:ext>
            </p:extLst>
          </p:nvPr>
        </p:nvGraphicFramePr>
        <p:xfrm>
          <a:off x="355634" y="1196752"/>
          <a:ext cx="11573013" cy="500062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56934">
                  <a:extLst>
                    <a:ext uri="{9D8B030D-6E8A-4147-A177-3AD203B41FA5}">
                      <a16:colId xmlns:a16="http://schemas.microsoft.com/office/drawing/2014/main" val="2538196358"/>
                    </a:ext>
                  </a:extLst>
                </a:gridCol>
                <a:gridCol w="3856934">
                  <a:extLst>
                    <a:ext uri="{9D8B030D-6E8A-4147-A177-3AD203B41FA5}">
                      <a16:colId xmlns:a16="http://schemas.microsoft.com/office/drawing/2014/main" val="2206065601"/>
                    </a:ext>
                  </a:extLst>
                </a:gridCol>
                <a:gridCol w="3859145">
                  <a:extLst>
                    <a:ext uri="{9D8B030D-6E8A-4147-A177-3AD203B41FA5}">
                      <a16:colId xmlns:a16="http://schemas.microsoft.com/office/drawing/2014/main" val="2936284668"/>
                    </a:ext>
                  </a:extLst>
                </a:gridCol>
              </a:tblGrid>
              <a:tr h="9429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six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 </a:t>
                      </a:r>
                      <a:r>
                        <a:rPr lang="en-GB" sz="4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onze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44920666"/>
                  </a:ext>
                </a:extLst>
              </a:tr>
              <a:tr h="9429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deux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sept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</a:t>
                      </a:r>
                      <a:r>
                        <a:rPr lang="en-GB" sz="4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douze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200945123"/>
                  </a:ext>
                </a:extLst>
              </a:tr>
              <a:tr h="98086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trois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</a:t>
                      </a:r>
                      <a:r>
                        <a:rPr lang="en-GB" sz="4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huit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 </a:t>
                      </a:r>
                      <a:r>
                        <a:rPr lang="en-GB" sz="4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treize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043791868"/>
                  </a:ext>
                </a:extLst>
              </a:tr>
              <a:tr h="9429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quatre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</a:t>
                      </a:r>
                      <a:r>
                        <a:rPr lang="en-GB" sz="4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neuf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quatorze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22040848"/>
                  </a:ext>
                </a:extLst>
              </a:tr>
              <a:tr h="9429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cinq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dix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4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</a:t>
                      </a:r>
                      <a:r>
                        <a:rPr lang="en-GB" sz="4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quinze</a:t>
                      </a:r>
                      <a:endParaRPr lang="en-GB" sz="4000" b="1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7543994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D563A5-7998-5DDE-C202-059BB26B0BEC}"/>
              </a:ext>
            </a:extLst>
          </p:cNvPr>
          <p:cNvSpPr txBox="1"/>
          <p:nvPr/>
        </p:nvSpPr>
        <p:spPr>
          <a:xfrm>
            <a:off x="335361" y="260648"/>
            <a:ext cx="8101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Vocab Flooding – Listen and Repeat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D4A35-5614-38D4-6568-FCCB199B02FB}"/>
              </a:ext>
            </a:extLst>
          </p:cNvPr>
          <p:cNvSpPr/>
          <p:nvPr/>
        </p:nvSpPr>
        <p:spPr>
          <a:xfrm>
            <a:off x="911424" y="1448897"/>
            <a:ext cx="31683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00F845-38EA-C86D-0923-66B6C73E0F7E}"/>
              </a:ext>
            </a:extLst>
          </p:cNvPr>
          <p:cNvSpPr/>
          <p:nvPr/>
        </p:nvSpPr>
        <p:spPr>
          <a:xfrm>
            <a:off x="911424" y="2417123"/>
            <a:ext cx="31683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3FE9DB-A518-6CA3-2C76-81926B362270}"/>
              </a:ext>
            </a:extLst>
          </p:cNvPr>
          <p:cNvSpPr/>
          <p:nvPr/>
        </p:nvSpPr>
        <p:spPr>
          <a:xfrm>
            <a:off x="911424" y="3429000"/>
            <a:ext cx="31683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BA342F-DBDD-BB6C-D471-F020F0DFE0EF}"/>
              </a:ext>
            </a:extLst>
          </p:cNvPr>
          <p:cNvSpPr/>
          <p:nvPr/>
        </p:nvSpPr>
        <p:spPr>
          <a:xfrm>
            <a:off x="911424" y="4440876"/>
            <a:ext cx="3168352" cy="71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1DF538-E823-D011-32EE-2FAA8EF29ADA}"/>
              </a:ext>
            </a:extLst>
          </p:cNvPr>
          <p:cNvSpPr/>
          <p:nvPr/>
        </p:nvSpPr>
        <p:spPr>
          <a:xfrm>
            <a:off x="983432" y="5349908"/>
            <a:ext cx="3168352" cy="71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E97375-2B87-E92D-EDCD-978790289C4E}"/>
              </a:ext>
            </a:extLst>
          </p:cNvPr>
          <p:cNvSpPr/>
          <p:nvPr/>
        </p:nvSpPr>
        <p:spPr>
          <a:xfrm>
            <a:off x="4704411" y="1416349"/>
            <a:ext cx="31683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54210C-CD2C-956E-B423-769DBAF69C51}"/>
              </a:ext>
            </a:extLst>
          </p:cNvPr>
          <p:cNvSpPr/>
          <p:nvPr/>
        </p:nvSpPr>
        <p:spPr>
          <a:xfrm>
            <a:off x="4704411" y="2384574"/>
            <a:ext cx="3168352" cy="7563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60FAC3-C414-5800-8056-0497659984BD}"/>
              </a:ext>
            </a:extLst>
          </p:cNvPr>
          <p:cNvSpPr/>
          <p:nvPr/>
        </p:nvSpPr>
        <p:spPr>
          <a:xfrm>
            <a:off x="4704411" y="3396452"/>
            <a:ext cx="31683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789A90-88BF-03E0-F72C-D260288F56FA}"/>
              </a:ext>
            </a:extLst>
          </p:cNvPr>
          <p:cNvSpPr/>
          <p:nvPr/>
        </p:nvSpPr>
        <p:spPr>
          <a:xfrm>
            <a:off x="4704411" y="4408328"/>
            <a:ext cx="3168352" cy="71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9828D3-06D5-A7FF-1B8E-027BEC1A422D}"/>
              </a:ext>
            </a:extLst>
          </p:cNvPr>
          <p:cNvSpPr/>
          <p:nvPr/>
        </p:nvSpPr>
        <p:spPr>
          <a:xfrm>
            <a:off x="5159895" y="5317360"/>
            <a:ext cx="2784875" cy="71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C414A8-2774-FF3B-40E3-78F91FB13801}"/>
              </a:ext>
            </a:extLst>
          </p:cNvPr>
          <p:cNvSpPr/>
          <p:nvPr/>
        </p:nvSpPr>
        <p:spPr>
          <a:xfrm>
            <a:off x="8869364" y="1448897"/>
            <a:ext cx="27712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D04818-A058-564B-27DE-C3CC19BCF6B3}"/>
              </a:ext>
            </a:extLst>
          </p:cNvPr>
          <p:cNvSpPr/>
          <p:nvPr/>
        </p:nvSpPr>
        <p:spPr>
          <a:xfrm>
            <a:off x="8869364" y="2417123"/>
            <a:ext cx="27712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F4555B-C0B3-C096-D846-48F973085DA4}"/>
              </a:ext>
            </a:extLst>
          </p:cNvPr>
          <p:cNvSpPr/>
          <p:nvPr/>
        </p:nvSpPr>
        <p:spPr>
          <a:xfrm>
            <a:off x="8869364" y="3429000"/>
            <a:ext cx="2771252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018D4F-AC4B-5EB9-CE68-812F2E66F79E}"/>
              </a:ext>
            </a:extLst>
          </p:cNvPr>
          <p:cNvSpPr/>
          <p:nvPr/>
        </p:nvSpPr>
        <p:spPr>
          <a:xfrm>
            <a:off x="8869364" y="4440876"/>
            <a:ext cx="2771252" cy="71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84DB58-93AD-F9F3-584D-F7AF3F811E36}"/>
              </a:ext>
            </a:extLst>
          </p:cNvPr>
          <p:cNvSpPr/>
          <p:nvPr/>
        </p:nvSpPr>
        <p:spPr>
          <a:xfrm>
            <a:off x="8941372" y="5349908"/>
            <a:ext cx="2771252" cy="71631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8D1EFB-8E2F-6E2C-4605-E36C833CA72D}"/>
                  </a:ext>
                </a:extLst>
              </p14:cNvPr>
              <p14:cNvContentPartPr/>
              <p14:nvPr/>
            </p14:nvContentPartPr>
            <p14:xfrm>
              <a:off x="320760" y="1306800"/>
              <a:ext cx="8796960" cy="4948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8D1EFB-8E2F-6E2C-4605-E36C833CA7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1400" y="1297440"/>
                <a:ext cx="8815680" cy="496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800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7C76A-E6FC-B140-0D40-5552E2ABF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Box 6">
            <a:extLst>
              <a:ext uri="{FF2B5EF4-FFF2-40B4-BE49-F238E27FC236}">
                <a16:creationId xmlns:a16="http://schemas.microsoft.com/office/drawing/2014/main" id="{6DA53590-005C-56FF-4389-9F8F09497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4869160"/>
            <a:ext cx="2359563" cy="707886"/>
          </a:xfrm>
          <a:prstGeom prst="rect">
            <a:avLst/>
          </a:prstGeom>
          <a:solidFill>
            <a:srgbClr val="99CC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Can I </a:t>
            </a:r>
            <a:r>
              <a:rPr lang="en-GB" altLang="en-US" sz="2000" b="1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identify</a:t>
            </a:r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key phonics?</a:t>
            </a:r>
            <a:endParaRPr lang="en-GB" altLang="en-US" sz="20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7ED32D-E4A8-36D4-6DB5-39A6641EBF8F}"/>
              </a:ext>
            </a:extLst>
          </p:cNvPr>
          <p:cNvSpPr/>
          <p:nvPr/>
        </p:nvSpPr>
        <p:spPr>
          <a:xfrm>
            <a:off x="330052" y="4245378"/>
            <a:ext cx="2368550" cy="4318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3B804-D54B-20BA-2527-178EC0DC7337}"/>
              </a:ext>
            </a:extLst>
          </p:cNvPr>
          <p:cNvSpPr txBox="1">
            <a:spLocks/>
          </p:cNvSpPr>
          <p:nvPr/>
        </p:nvSpPr>
        <p:spPr bwMode="auto">
          <a:xfrm>
            <a:off x="191344" y="1977195"/>
            <a:ext cx="11809312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L’objectif</a:t>
            </a:r>
            <a: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I say numbers 1-15 in French and say how old I am?</a:t>
            </a:r>
            <a:endParaRPr lang="en-GB" altLang="en-US" sz="2400" b="1" dirty="0"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4B8DCFCE-C95B-6169-72E8-C226401F8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335" y="4869160"/>
            <a:ext cx="2928508" cy="101566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apply 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key phonics when speaking?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EA32746-9319-8855-A50A-5002CC375F28}"/>
              </a:ext>
            </a:extLst>
          </p:cNvPr>
          <p:cNvGraphicFramePr>
            <a:graphicFrameLocks noGrp="1"/>
          </p:cNvGraphicFramePr>
          <p:nvPr/>
        </p:nvGraphicFramePr>
        <p:xfrm>
          <a:off x="0" y="-9022"/>
          <a:ext cx="12192000" cy="1535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39181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10836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8333810"/>
                    </a:ext>
                  </a:extLst>
                </a:gridCol>
              </a:tblGrid>
              <a:tr h="1535846"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grande idée:</a:t>
                      </a:r>
                      <a:b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400" b="1" u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Theme 1: People and Lifestyle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Lesson 4:</a:t>
                      </a:r>
                    </a:p>
                    <a:p>
                      <a:pPr algn="ctr"/>
                      <a:endParaRPr lang="en-GB" sz="2400" b="1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 </a:t>
                      </a:r>
                      <a:r>
                        <a:rPr lang="en-GB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âge</a:t>
                      </a:r>
                      <a:endParaRPr lang="en-GB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question du jour: </a:t>
                      </a:r>
                    </a:p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I say how old I am in French?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570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493DF7D-82E6-8303-BB67-2678894A5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255" y="4869160"/>
            <a:ext cx="292850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recognise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15 numbers in French?</a:t>
            </a:r>
          </a:p>
        </p:txBody>
      </p:sp>
    </p:spTree>
    <p:extLst>
      <p:ext uri="{BB962C8B-B14F-4D97-AF65-F5344CB8AC3E}">
        <p14:creationId xmlns:p14="http://schemas.microsoft.com/office/powerpoint/2010/main" val="371264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C42045-DF99-7096-873B-A33B3F0086A6}"/>
              </a:ext>
            </a:extLst>
          </p:cNvPr>
          <p:cNvSpPr txBox="1"/>
          <p:nvPr/>
        </p:nvSpPr>
        <p:spPr>
          <a:xfrm>
            <a:off x="335361" y="260648"/>
            <a:ext cx="32624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Phonics Help: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BB15D-ACF1-9B7E-4FB1-15CCE1CC8605}"/>
              </a:ext>
            </a:extLst>
          </p:cNvPr>
          <p:cNvSpPr txBox="1"/>
          <p:nvPr/>
        </p:nvSpPr>
        <p:spPr>
          <a:xfrm>
            <a:off x="3047163" y="3200680"/>
            <a:ext cx="6094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BA49E0-AF82-82EB-C0F0-8D5B39D14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979" y="1058514"/>
            <a:ext cx="3198295" cy="3198295"/>
          </a:xfrm>
          <a:prstGeom prst="rect">
            <a:avLst/>
          </a:prstGeom>
        </p:spPr>
      </p:pic>
      <p:grpSp>
        <p:nvGrpSpPr>
          <p:cNvPr id="8" name="Group 2">
            <a:extLst>
              <a:ext uri="{FF2B5EF4-FFF2-40B4-BE49-F238E27FC236}">
                <a16:creationId xmlns:a16="http://schemas.microsoft.com/office/drawing/2014/main" id="{3996C3FA-C213-7091-1BA1-73A42C4DE5CB}"/>
              </a:ext>
            </a:extLst>
          </p:cNvPr>
          <p:cNvGrpSpPr/>
          <p:nvPr/>
        </p:nvGrpSpPr>
        <p:grpSpPr>
          <a:xfrm>
            <a:off x="9034933" y="243809"/>
            <a:ext cx="2509973" cy="2509973"/>
            <a:chOff x="0" y="0"/>
            <a:chExt cx="13716000" cy="1371600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341BCEBA-7319-9484-10A9-5A1BA65D9125}"/>
                </a:ext>
              </a:extLst>
            </p:cNvPr>
            <p:cNvSpPr/>
            <p:nvPr/>
          </p:nvSpPr>
          <p:spPr>
            <a:xfrm rot="-306000">
              <a:off x="-427" y="-427"/>
              <a:ext cx="13716854" cy="13716854"/>
            </a:xfrm>
            <a:custGeom>
              <a:avLst/>
              <a:gdLst/>
              <a:ahLst/>
              <a:cxnLst/>
              <a:rect l="l" t="t" r="r" b="b"/>
              <a:pathLst>
                <a:path w="13716854" h="13716854">
                  <a:moveTo>
                    <a:pt x="7468064" y="27577"/>
                  </a:moveTo>
                  <a:cubicBezTo>
                    <a:pt x="3695490" y="-309116"/>
                    <a:pt x="364271" y="2476216"/>
                    <a:pt x="27577" y="6248790"/>
                  </a:cubicBezTo>
                  <a:cubicBezTo>
                    <a:pt x="-309116" y="10021364"/>
                    <a:pt x="2476216" y="13352583"/>
                    <a:pt x="6248790" y="13689277"/>
                  </a:cubicBezTo>
                  <a:cubicBezTo>
                    <a:pt x="10021364" y="14025970"/>
                    <a:pt x="13352583" y="11240638"/>
                    <a:pt x="13689277" y="7468064"/>
                  </a:cubicBezTo>
                  <a:cubicBezTo>
                    <a:pt x="14025970" y="3695490"/>
                    <a:pt x="11240638" y="364271"/>
                    <a:pt x="7468064" y="27577"/>
                  </a:cubicBezTo>
                  <a:close/>
                </a:path>
              </a:pathLst>
            </a:custGeom>
            <a:blipFill>
              <a:blip r:embed="rId3"/>
              <a:stretch>
                <a:fillRect l="-20026" t="-26817" r="-16709" b="-9919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5">
            <a:extLst>
              <a:ext uri="{FF2B5EF4-FFF2-40B4-BE49-F238E27FC236}">
                <a16:creationId xmlns:a16="http://schemas.microsoft.com/office/drawing/2014/main" id="{5AFCEB53-6308-233F-CEAD-94EF887F2738}"/>
              </a:ext>
            </a:extLst>
          </p:cNvPr>
          <p:cNvSpPr/>
          <p:nvPr/>
        </p:nvSpPr>
        <p:spPr>
          <a:xfrm>
            <a:off x="8849640" y="3681459"/>
            <a:ext cx="3198295" cy="3198295"/>
          </a:xfrm>
          <a:custGeom>
            <a:avLst/>
            <a:gdLst/>
            <a:ahLst/>
            <a:cxnLst/>
            <a:rect l="l" t="t" r="r" b="b"/>
            <a:pathLst>
              <a:path w="5678169" h="5678169">
                <a:moveTo>
                  <a:pt x="0" y="0"/>
                </a:moveTo>
                <a:lnTo>
                  <a:pt x="5678169" y="0"/>
                </a:lnTo>
                <a:lnTo>
                  <a:pt x="5678169" y="5678169"/>
                </a:lnTo>
                <a:lnTo>
                  <a:pt x="0" y="5678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0435CD1A-C830-7E80-7F3E-2D2CAE9AB94E}"/>
              </a:ext>
            </a:extLst>
          </p:cNvPr>
          <p:cNvSpPr/>
          <p:nvPr/>
        </p:nvSpPr>
        <p:spPr>
          <a:xfrm>
            <a:off x="2962713" y="3480860"/>
            <a:ext cx="3198295" cy="3198295"/>
          </a:xfrm>
          <a:custGeom>
            <a:avLst/>
            <a:gdLst/>
            <a:ahLst/>
            <a:cxnLst/>
            <a:rect l="l" t="t" r="r" b="b"/>
            <a:pathLst>
              <a:path w="4254306" h="4254306">
                <a:moveTo>
                  <a:pt x="0" y="0"/>
                </a:moveTo>
                <a:lnTo>
                  <a:pt x="4254305" y="0"/>
                </a:lnTo>
                <a:lnTo>
                  <a:pt x="4254305" y="4254305"/>
                </a:lnTo>
                <a:lnTo>
                  <a:pt x="0" y="4254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49419C-7D28-AC71-05F0-413F4C869061}"/>
              </a:ext>
            </a:extLst>
          </p:cNvPr>
          <p:cNvSpPr txBox="1"/>
          <p:nvPr/>
        </p:nvSpPr>
        <p:spPr>
          <a:xfrm>
            <a:off x="3789089" y="6236226"/>
            <a:ext cx="16113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  <a:t>cease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644172-2FFF-DF79-A63A-3ED3D8E305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511" y="2146548"/>
            <a:ext cx="2564904" cy="2564904"/>
          </a:xfrm>
          <a:prstGeom prst="flowChartConnector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80BC3F-8175-84BD-A92E-87774FE4A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427580" y="327162"/>
            <a:ext cx="2733428" cy="2733428"/>
          </a:xfrm>
          <a:prstGeom prst="rect">
            <a:avLst/>
          </a:prstGeom>
        </p:spPr>
      </p:pic>
      <p:sp>
        <p:nvSpPr>
          <p:cNvPr id="19" name="Freeform 9">
            <a:extLst>
              <a:ext uri="{FF2B5EF4-FFF2-40B4-BE49-F238E27FC236}">
                <a16:creationId xmlns:a16="http://schemas.microsoft.com/office/drawing/2014/main" id="{8FD884D0-6EC3-E157-4280-0C73D7E9562F}"/>
              </a:ext>
            </a:extLst>
          </p:cNvPr>
          <p:cNvSpPr/>
          <p:nvPr/>
        </p:nvSpPr>
        <p:spPr>
          <a:xfrm>
            <a:off x="209827" y="4404726"/>
            <a:ext cx="2406908" cy="2406908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B8D9A3C-40F9-2416-7716-8CBFD059DF2C}"/>
                  </a:ext>
                </a:extLst>
              </p14:cNvPr>
              <p14:cNvContentPartPr/>
              <p14:nvPr/>
            </p14:nvContentPartPr>
            <p14:xfrm>
              <a:off x="6806160" y="1034640"/>
              <a:ext cx="1156680" cy="730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B8D9A3C-40F9-2416-7716-8CBFD059DF2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96800" y="1025280"/>
                <a:ext cx="1175400" cy="74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408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29ED-F3E7-A517-F082-978CCB579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Box 6">
            <a:extLst>
              <a:ext uri="{FF2B5EF4-FFF2-40B4-BE49-F238E27FC236}">
                <a16:creationId xmlns:a16="http://schemas.microsoft.com/office/drawing/2014/main" id="{B463A382-F124-BA9E-0798-B3155C0F1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4869160"/>
            <a:ext cx="2359563" cy="707886"/>
          </a:xfrm>
          <a:prstGeom prst="rect">
            <a:avLst/>
          </a:prstGeom>
          <a:solidFill>
            <a:srgbClr val="99CC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Can I </a:t>
            </a:r>
            <a:r>
              <a:rPr lang="en-GB" altLang="en-US" sz="2000" b="1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identify</a:t>
            </a:r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key phonics?</a:t>
            </a:r>
            <a:endParaRPr lang="en-GB" altLang="en-US" sz="20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F2AEA-8EB7-0F9D-0BB9-C8A6A0FB95B3}"/>
              </a:ext>
            </a:extLst>
          </p:cNvPr>
          <p:cNvSpPr/>
          <p:nvPr/>
        </p:nvSpPr>
        <p:spPr>
          <a:xfrm>
            <a:off x="330052" y="4245378"/>
            <a:ext cx="2368550" cy="4318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55D49-FAE8-25FC-444B-9414D7D85E41}"/>
              </a:ext>
            </a:extLst>
          </p:cNvPr>
          <p:cNvSpPr txBox="1">
            <a:spLocks/>
          </p:cNvSpPr>
          <p:nvPr/>
        </p:nvSpPr>
        <p:spPr bwMode="auto">
          <a:xfrm>
            <a:off x="191344" y="1977195"/>
            <a:ext cx="11809312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L’objectif</a:t>
            </a:r>
            <a: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I say numbers 1-15 in French and say how old I am?</a:t>
            </a:r>
            <a:endParaRPr lang="en-GB" altLang="en-US" sz="2400" b="1" dirty="0"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A70983C-004F-4123-E7EB-BED12B39A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335" y="4869160"/>
            <a:ext cx="2928508" cy="1015663"/>
          </a:xfrm>
          <a:prstGeom prst="rect">
            <a:avLst/>
          </a:prstGeom>
          <a:solidFill>
            <a:srgbClr val="99CC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apply 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key phonics when speaking?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82105B-9D62-35E3-9027-F2A75471571C}"/>
              </a:ext>
            </a:extLst>
          </p:cNvPr>
          <p:cNvGraphicFramePr>
            <a:graphicFrameLocks noGrp="1"/>
          </p:cNvGraphicFramePr>
          <p:nvPr/>
        </p:nvGraphicFramePr>
        <p:xfrm>
          <a:off x="0" y="-9022"/>
          <a:ext cx="12192000" cy="1535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39181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10836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8333810"/>
                    </a:ext>
                  </a:extLst>
                </a:gridCol>
              </a:tblGrid>
              <a:tr h="1535846"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grande idée:</a:t>
                      </a:r>
                      <a:b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400" b="1" u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Theme 1: People and Lifestyle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Lesson 4:</a:t>
                      </a:r>
                    </a:p>
                    <a:p>
                      <a:pPr algn="ctr"/>
                      <a:endParaRPr lang="en-GB" sz="2400" b="1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 </a:t>
                      </a:r>
                      <a:r>
                        <a:rPr lang="en-GB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âge</a:t>
                      </a:r>
                      <a:endParaRPr lang="en-GB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question du jour: </a:t>
                      </a:r>
                    </a:p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I say how old I am in French?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570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A02E727-B15D-3394-C578-5AB3082F2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255" y="4869160"/>
            <a:ext cx="292850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recognise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15 numbers in French?</a:t>
            </a:r>
          </a:p>
        </p:txBody>
      </p:sp>
    </p:spTree>
    <p:extLst>
      <p:ext uri="{BB962C8B-B14F-4D97-AF65-F5344CB8AC3E}">
        <p14:creationId xmlns:p14="http://schemas.microsoft.com/office/powerpoint/2010/main" val="318930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8">
            <a:extLst>
              <a:ext uri="{FF2B5EF4-FFF2-40B4-BE49-F238E27FC236}">
                <a16:creationId xmlns:a16="http://schemas.microsoft.com/office/drawing/2014/main" id="{EB2B0224-E578-ECE1-8981-15A848BCF626}"/>
              </a:ext>
            </a:extLst>
          </p:cNvPr>
          <p:cNvSpPr/>
          <p:nvPr/>
        </p:nvSpPr>
        <p:spPr>
          <a:xfrm>
            <a:off x="4070950" y="-530863"/>
            <a:ext cx="4186808" cy="4186808"/>
          </a:xfrm>
          <a:custGeom>
            <a:avLst/>
            <a:gdLst/>
            <a:ahLst/>
            <a:cxnLst/>
            <a:rect l="l" t="t" r="r" b="b"/>
            <a:pathLst>
              <a:path w="8229600" h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6911D2-49FA-DA6E-8515-C6A5CA8427F5}"/>
              </a:ext>
            </a:extLst>
          </p:cNvPr>
          <p:cNvSpPr txBox="1"/>
          <p:nvPr/>
        </p:nvSpPr>
        <p:spPr>
          <a:xfrm>
            <a:off x="839416" y="1124744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6E5BF-76B2-E554-3F53-CED2AC5359A5}"/>
              </a:ext>
            </a:extLst>
          </p:cNvPr>
          <p:cNvSpPr txBox="1"/>
          <p:nvPr/>
        </p:nvSpPr>
        <p:spPr>
          <a:xfrm>
            <a:off x="8976320" y="2996952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372684-A606-FD28-E251-AAF70ABD7C71}"/>
              </a:ext>
            </a:extLst>
          </p:cNvPr>
          <p:cNvSpPr txBox="1"/>
          <p:nvPr/>
        </p:nvSpPr>
        <p:spPr>
          <a:xfrm>
            <a:off x="444765" y="3052037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755062-771A-DF6D-7D62-0572F850E519}"/>
              </a:ext>
            </a:extLst>
          </p:cNvPr>
          <p:cNvSpPr txBox="1"/>
          <p:nvPr/>
        </p:nvSpPr>
        <p:spPr>
          <a:xfrm>
            <a:off x="3906695" y="3184316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4E0B38-DC06-6B20-0045-4EAB4B6B6D73}"/>
              </a:ext>
            </a:extLst>
          </p:cNvPr>
          <p:cNvSpPr txBox="1"/>
          <p:nvPr/>
        </p:nvSpPr>
        <p:spPr>
          <a:xfrm>
            <a:off x="2394664" y="4462054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22828E-3AB8-1242-3A89-A5954C1626D5}"/>
              </a:ext>
            </a:extLst>
          </p:cNvPr>
          <p:cNvSpPr txBox="1"/>
          <p:nvPr/>
        </p:nvSpPr>
        <p:spPr>
          <a:xfrm>
            <a:off x="8418278" y="1142697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4D39CA-5424-62A0-0BE7-9968A14526E2}"/>
              </a:ext>
            </a:extLst>
          </p:cNvPr>
          <p:cNvSpPr txBox="1"/>
          <p:nvPr/>
        </p:nvSpPr>
        <p:spPr>
          <a:xfrm>
            <a:off x="2460345" y="2249577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3FB09C-975E-C203-EA7C-F6B6D442C40C}"/>
              </a:ext>
            </a:extLst>
          </p:cNvPr>
          <p:cNvSpPr txBox="1"/>
          <p:nvPr/>
        </p:nvSpPr>
        <p:spPr>
          <a:xfrm>
            <a:off x="8095045" y="4725144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EAA9FA-D1E3-74B8-C2BA-4BE205E24991}"/>
              </a:ext>
            </a:extLst>
          </p:cNvPr>
          <p:cNvSpPr txBox="1"/>
          <p:nvPr/>
        </p:nvSpPr>
        <p:spPr>
          <a:xfrm>
            <a:off x="4002596" y="5123774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79D418-E984-FD67-7800-5BC62CBC9116}"/>
              </a:ext>
            </a:extLst>
          </p:cNvPr>
          <p:cNvSpPr txBox="1"/>
          <p:nvPr/>
        </p:nvSpPr>
        <p:spPr>
          <a:xfrm>
            <a:off x="10089470" y="764704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9614B2F-2470-553B-6430-B5C7AEE34795}"/>
              </a:ext>
            </a:extLst>
          </p:cNvPr>
          <p:cNvSpPr txBox="1"/>
          <p:nvPr/>
        </p:nvSpPr>
        <p:spPr>
          <a:xfrm>
            <a:off x="10225267" y="5386863"/>
            <a:ext cx="12693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C814DD-29EE-A2DF-2A1C-A4AFC1E1C8DC}"/>
              </a:ext>
            </a:extLst>
          </p:cNvPr>
          <p:cNvSpPr txBox="1"/>
          <p:nvPr/>
        </p:nvSpPr>
        <p:spPr>
          <a:xfrm>
            <a:off x="454686" y="5359568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B560D3-2C32-FE8E-6569-E9CB42F367A7}"/>
              </a:ext>
            </a:extLst>
          </p:cNvPr>
          <p:cNvSpPr txBox="1"/>
          <p:nvPr/>
        </p:nvSpPr>
        <p:spPr>
          <a:xfrm>
            <a:off x="5755910" y="5359567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87A6B4-E4B7-F949-EDB3-3075CCE2714C}"/>
              </a:ext>
            </a:extLst>
          </p:cNvPr>
          <p:cNvSpPr txBox="1"/>
          <p:nvPr/>
        </p:nvSpPr>
        <p:spPr>
          <a:xfrm>
            <a:off x="10560496" y="3184316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49EB63-F0B2-F45E-4D1A-E2FA9C81DA60}"/>
              </a:ext>
            </a:extLst>
          </p:cNvPr>
          <p:cNvSpPr txBox="1"/>
          <p:nvPr/>
        </p:nvSpPr>
        <p:spPr>
          <a:xfrm>
            <a:off x="6263333" y="3474982"/>
            <a:ext cx="13260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b="1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11478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53C7-CA4F-A16E-603B-8ACB35E9B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6FDF57-61CF-DD7F-38F4-0BD0818EDBD9}"/>
              </a:ext>
            </a:extLst>
          </p:cNvPr>
          <p:cNvSpPr txBox="1"/>
          <p:nvPr/>
        </p:nvSpPr>
        <p:spPr>
          <a:xfrm>
            <a:off x="335361" y="260648"/>
            <a:ext cx="8101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u="sng" dirty="0">
                <a:latin typeface="Arial" panose="020B0604020202020204" pitchFamily="34" charset="0"/>
                <a:cs typeface="Arial" panose="020B0604020202020204" pitchFamily="34" charset="0"/>
              </a:rPr>
              <a:t>Vocab Flooding – Listen and Repeat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3E0199B-FF7D-FFE1-E15C-4F06DCF03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926790"/>
              </p:ext>
            </p:extLst>
          </p:nvPr>
        </p:nvGraphicFramePr>
        <p:xfrm>
          <a:off x="355541" y="1484784"/>
          <a:ext cx="11501100" cy="352839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33700">
                  <a:extLst>
                    <a:ext uri="{9D8B030D-6E8A-4147-A177-3AD203B41FA5}">
                      <a16:colId xmlns:a16="http://schemas.microsoft.com/office/drawing/2014/main" val="1791504862"/>
                    </a:ext>
                  </a:extLst>
                </a:gridCol>
                <a:gridCol w="3833700">
                  <a:extLst>
                    <a:ext uri="{9D8B030D-6E8A-4147-A177-3AD203B41FA5}">
                      <a16:colId xmlns:a16="http://schemas.microsoft.com/office/drawing/2014/main" val="1403993995"/>
                    </a:ext>
                  </a:extLst>
                </a:gridCol>
                <a:gridCol w="3833700">
                  <a:extLst>
                    <a:ext uri="{9D8B030D-6E8A-4147-A177-3AD203B41FA5}">
                      <a16:colId xmlns:a16="http://schemas.microsoft.com/office/drawing/2014/main" val="3552996472"/>
                    </a:ext>
                  </a:extLst>
                </a:gridCol>
              </a:tblGrid>
              <a:tr h="352839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b="1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Quel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800" b="1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âge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800" b="1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GB" sz="2800" b="1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?</a:t>
                      </a:r>
                      <a:endParaRPr lang="en-GB" sz="20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age do you have?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b="1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J’ai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onze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800" b="1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endParaRPr lang="en-GB" sz="20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have 11 years,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J’ai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800" b="1" dirty="0" err="1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douze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800" b="1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ans</a:t>
                      </a:r>
                      <a:r>
                        <a:rPr lang="en-GB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endParaRPr lang="en-GB" sz="20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have 12 years,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 toi ?</a:t>
                      </a:r>
                      <a:endParaRPr lang="en-GB" sz="20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 </a:t>
                      </a:r>
                      <a:r>
                        <a:rPr lang="fr-FR" sz="2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</a:t>
                      </a:r>
                      <a:r>
                        <a:rPr lang="fr-FR" sz="2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?</a:t>
                      </a:r>
                      <a:endParaRPr lang="en-GB" sz="20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829757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46AA285-D22B-9B57-967E-068ABEC6DAC4}"/>
              </a:ext>
            </a:extLst>
          </p:cNvPr>
          <p:cNvSpPr txBox="1"/>
          <p:nvPr/>
        </p:nvSpPr>
        <p:spPr>
          <a:xfrm>
            <a:off x="1055440" y="2060848"/>
            <a:ext cx="612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964006-D2C7-2CB1-26AC-EC16E8AE17D1}"/>
              </a:ext>
            </a:extLst>
          </p:cNvPr>
          <p:cNvSpPr txBox="1"/>
          <p:nvPr/>
        </p:nvSpPr>
        <p:spPr>
          <a:xfrm>
            <a:off x="1668108" y="2060848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arge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3FBDE6-72A3-9A56-531A-5C1E53144A7F}"/>
              </a:ext>
            </a:extLst>
          </p:cNvPr>
          <p:cNvSpPr txBox="1"/>
          <p:nvPr/>
        </p:nvSpPr>
        <p:spPr>
          <a:xfrm>
            <a:off x="2483766" y="2060848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0074A6-3467-8A28-2F3C-7DB43246FB41}"/>
              </a:ext>
            </a:extLst>
          </p:cNvPr>
          <p:cNvSpPr txBox="1"/>
          <p:nvPr/>
        </p:nvSpPr>
        <p:spPr>
          <a:xfrm>
            <a:off x="2988070" y="2060848"/>
            <a:ext cx="662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99F59F-31D7-4CDA-3E0E-AF3D7D94B100}"/>
              </a:ext>
            </a:extLst>
          </p:cNvPr>
          <p:cNvSpPr txBox="1"/>
          <p:nvPr/>
        </p:nvSpPr>
        <p:spPr>
          <a:xfrm>
            <a:off x="4727848" y="1484784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zhay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37C69C-05BA-5BC6-B5F2-4B598FC219FA}"/>
              </a:ext>
            </a:extLst>
          </p:cNvPr>
          <p:cNvSpPr txBox="1"/>
          <p:nvPr/>
        </p:nvSpPr>
        <p:spPr>
          <a:xfrm>
            <a:off x="6595005" y="1510794"/>
            <a:ext cx="5597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297594-7587-AA1B-DF3F-FAF3E07D56B9}"/>
              </a:ext>
            </a:extLst>
          </p:cNvPr>
          <p:cNvSpPr txBox="1"/>
          <p:nvPr/>
        </p:nvSpPr>
        <p:spPr>
          <a:xfrm>
            <a:off x="5522275" y="3261985"/>
            <a:ext cx="1072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dooze</a:t>
            </a:r>
            <a:endParaRPr lang="en-GB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617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003DBB-08FC-422D-8835-AC8ED1FC1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952132"/>
              </p:ext>
            </p:extLst>
          </p:nvPr>
        </p:nvGraphicFramePr>
        <p:xfrm>
          <a:off x="6960096" y="1196752"/>
          <a:ext cx="4680519" cy="46805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60173">
                  <a:extLst>
                    <a:ext uri="{9D8B030D-6E8A-4147-A177-3AD203B41FA5}">
                      <a16:colId xmlns:a16="http://schemas.microsoft.com/office/drawing/2014/main" val="3333772999"/>
                    </a:ext>
                  </a:extLst>
                </a:gridCol>
                <a:gridCol w="1560173">
                  <a:extLst>
                    <a:ext uri="{9D8B030D-6E8A-4147-A177-3AD203B41FA5}">
                      <a16:colId xmlns:a16="http://schemas.microsoft.com/office/drawing/2014/main" val="3073878597"/>
                    </a:ext>
                  </a:extLst>
                </a:gridCol>
                <a:gridCol w="1560173">
                  <a:extLst>
                    <a:ext uri="{9D8B030D-6E8A-4147-A177-3AD203B41FA5}">
                      <a16:colId xmlns:a16="http://schemas.microsoft.com/office/drawing/2014/main" val="2000128768"/>
                    </a:ext>
                  </a:extLst>
                </a:gridCol>
              </a:tblGrid>
              <a:tr h="1560173"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56996"/>
                  </a:ext>
                </a:extLst>
              </a:tr>
              <a:tr h="1560173"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2130018"/>
                  </a:ext>
                </a:extLst>
              </a:tr>
              <a:tr h="1560173"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132095" marR="132095" marT="66047" marB="6604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71839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24FAD32-7416-645A-D407-E9AF73F5399B}"/>
              </a:ext>
            </a:extLst>
          </p:cNvPr>
          <p:cNvSpPr txBox="1"/>
          <p:nvPr/>
        </p:nvSpPr>
        <p:spPr>
          <a:xfrm>
            <a:off x="191344" y="188640"/>
            <a:ext cx="60943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GB" sz="4400" b="1" i="0" u="sng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urêka</a:t>
            </a:r>
            <a:r>
              <a:rPr lang="en-GB" sz="4400" b="1" i="0" u="sn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 !</a:t>
            </a:r>
            <a:endParaRPr lang="en-GB" sz="72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E5D84-5374-B6D1-58A4-D7FDC819A384}"/>
              </a:ext>
            </a:extLst>
          </p:cNvPr>
          <p:cNvSpPr txBox="1"/>
          <p:nvPr/>
        </p:nvSpPr>
        <p:spPr>
          <a:xfrm>
            <a:off x="191344" y="1268760"/>
            <a:ext cx="64807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Create a 3 by 3 bingo square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Randomly put numbers from 1-15 in each box. You cannot use a number more than once.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Listen to your teacher read a number out in French. If you have the number, cross it out.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First we are playing for a line of three – once you have three numbers in a row, shout </a:t>
            </a:r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EURÊKA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Then we will play for a full house.</a:t>
            </a:r>
          </a:p>
        </p:txBody>
      </p:sp>
    </p:spTree>
    <p:extLst>
      <p:ext uri="{BB962C8B-B14F-4D97-AF65-F5344CB8AC3E}">
        <p14:creationId xmlns:p14="http://schemas.microsoft.com/office/powerpoint/2010/main" val="2893253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BCA05-EED8-2F5D-E15E-0BABBBBA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Box 6">
            <a:extLst>
              <a:ext uri="{FF2B5EF4-FFF2-40B4-BE49-F238E27FC236}">
                <a16:creationId xmlns:a16="http://schemas.microsoft.com/office/drawing/2014/main" id="{B3B2DDF3-A235-8D39-802E-F2D7C901B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360" y="4869160"/>
            <a:ext cx="2359563" cy="707886"/>
          </a:xfrm>
          <a:prstGeom prst="rect">
            <a:avLst/>
          </a:prstGeom>
          <a:solidFill>
            <a:srgbClr val="99CC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Can I </a:t>
            </a:r>
            <a:r>
              <a:rPr lang="en-GB" altLang="en-US" sz="2000" b="1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identify</a:t>
            </a:r>
            <a:r>
              <a:rPr lang="en-GB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 key phonics?</a:t>
            </a:r>
            <a:endParaRPr lang="en-GB" altLang="en-US" sz="200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32AD43-4D1D-B077-EB4E-BEDDDB00430C}"/>
              </a:ext>
            </a:extLst>
          </p:cNvPr>
          <p:cNvSpPr/>
          <p:nvPr/>
        </p:nvSpPr>
        <p:spPr>
          <a:xfrm>
            <a:off x="330052" y="4245378"/>
            <a:ext cx="2368550" cy="4318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s-E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OUTCOMES: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CDFA1-837F-845F-85F6-1DB191FFE081}"/>
              </a:ext>
            </a:extLst>
          </p:cNvPr>
          <p:cNvSpPr txBox="1">
            <a:spLocks/>
          </p:cNvSpPr>
          <p:nvPr/>
        </p:nvSpPr>
        <p:spPr bwMode="auto">
          <a:xfrm>
            <a:off x="191344" y="1977195"/>
            <a:ext cx="11809312" cy="160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r>
              <a:rPr lang="en-GB" altLang="en-US" sz="2800" u="sng" dirty="0" err="1">
                <a:latin typeface="Arial" panose="020B0604020202020204" pitchFamily="34" charset="0"/>
                <a:cs typeface="Arial" panose="020B0604020202020204" pitchFamily="34" charset="0"/>
              </a:rPr>
              <a:t>L’objectif</a:t>
            </a:r>
            <a: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alt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Can I say numbers 1-15 in French and say how old I am?</a:t>
            </a:r>
            <a:endParaRPr lang="en-GB" altLang="en-US" sz="2400" b="1" dirty="0"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A86B357A-B8D6-CAA2-2E53-44B654A23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3335" y="4869160"/>
            <a:ext cx="2928508" cy="1015663"/>
          </a:xfrm>
          <a:prstGeom prst="rect">
            <a:avLst/>
          </a:prstGeom>
          <a:solidFill>
            <a:srgbClr val="99CC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apply 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key phonics when speaking?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5B6570-9086-CA45-E9FC-3BABD078EF65}"/>
              </a:ext>
            </a:extLst>
          </p:cNvPr>
          <p:cNvGraphicFramePr>
            <a:graphicFrameLocks noGrp="1"/>
          </p:cNvGraphicFramePr>
          <p:nvPr/>
        </p:nvGraphicFramePr>
        <p:xfrm>
          <a:off x="0" y="-9022"/>
          <a:ext cx="12192000" cy="15358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7391818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510836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48333810"/>
                    </a:ext>
                  </a:extLst>
                </a:gridCol>
              </a:tblGrid>
              <a:tr h="1535846"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grande idée:</a:t>
                      </a:r>
                      <a:b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400" b="1" u="none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Theme 1: People and Lifestyle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Lesson 4:</a:t>
                      </a:r>
                    </a:p>
                    <a:p>
                      <a:pPr algn="ctr"/>
                      <a:endParaRPr lang="en-GB" sz="2400" b="1" u="sng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GB"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 </a:t>
                      </a:r>
                      <a:r>
                        <a:rPr lang="en-GB" sz="2400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âge</a:t>
                      </a:r>
                      <a:endParaRPr lang="en-GB" sz="2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1" u="sng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 question du jour: </a:t>
                      </a:r>
                    </a:p>
                    <a:p>
                      <a:pPr algn="ctr"/>
                      <a:r>
                        <a:rPr lang="en-GB" sz="2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I say how old I am in French?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5704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218474F-E273-787D-BDC8-967168256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255" y="4869160"/>
            <a:ext cx="2928508" cy="707886"/>
          </a:xfrm>
          <a:prstGeom prst="rect">
            <a:avLst/>
          </a:prstGeom>
          <a:solidFill>
            <a:srgbClr val="99CC00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Can I </a:t>
            </a:r>
            <a:r>
              <a:rPr lang="en-GB" sz="2000" b="1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recognise</a:t>
            </a:r>
            <a:r>
              <a:rPr lang="en-GB" sz="2000" i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 15 numbers in French?</a:t>
            </a:r>
          </a:p>
        </p:txBody>
      </p:sp>
    </p:spTree>
    <p:extLst>
      <p:ext uri="{BB962C8B-B14F-4D97-AF65-F5344CB8AC3E}">
        <p14:creationId xmlns:p14="http://schemas.microsoft.com/office/powerpoint/2010/main" val="3709901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5735</TotalTime>
  <Words>784</Words>
  <Application>Microsoft Office PowerPoint</Application>
  <PresentationFormat>Widescreen</PresentationFormat>
  <Paragraphs>175</Paragraphs>
  <Slides>16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2013 - 2022 Theme</vt:lpstr>
      <vt:lpstr>IN&amp;ON: This or that – Tick the correct spelling</vt:lpstr>
      <vt:lpstr>IN&amp;ON: This or that – Tick the correct spelling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00000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MFL Teacher Tools</dc:creator>
  <cp:lastModifiedBy>MFL Teacher Tools</cp:lastModifiedBy>
  <cp:revision>446</cp:revision>
  <cp:lastPrinted>2019-09-19T06:31:30Z</cp:lastPrinted>
  <dcterms:created xsi:type="dcterms:W3CDTF">2006-11-26T19:18:38Z</dcterms:created>
  <dcterms:modified xsi:type="dcterms:W3CDTF">2026-10-25T16:39:15Z</dcterms:modified>
</cp:coreProperties>
</file>